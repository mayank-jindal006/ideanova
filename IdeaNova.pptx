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Nunito" pitchFamily="2" charset="0"/>
      <p:regular r:id="rId14"/>
    </p:embeddedFont>
    <p:embeddedFont>
      <p:font typeface="Times New Roman Bold" panose="02020803070505020304" pitchFamily="18" charset="0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1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3E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7" y="5649001"/>
            <a:ext cx="14740804" cy="4637999"/>
            <a:chOff x="0" y="0"/>
            <a:chExt cx="19654406" cy="61839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654393" cy="6184011"/>
            </a:xfrm>
            <a:custGeom>
              <a:avLst/>
              <a:gdLst/>
              <a:ahLst/>
              <a:cxnLst/>
              <a:rect l="l" t="t" r="r" b="b"/>
              <a:pathLst>
                <a:path w="19654393" h="6184011">
                  <a:moveTo>
                    <a:pt x="0" y="6184011"/>
                  </a:moveTo>
                  <a:lnTo>
                    <a:pt x="0" y="0"/>
                  </a:lnTo>
                  <a:lnTo>
                    <a:pt x="19654393" y="6184011"/>
                  </a:lnTo>
                  <a:close/>
                </a:path>
              </a:pathLst>
            </a:custGeom>
            <a:solidFill>
              <a:srgbClr val="00796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7165200" y="3101397"/>
            <a:ext cx="11122800" cy="7185603"/>
            <a:chOff x="0" y="0"/>
            <a:chExt cx="14830400" cy="95808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830425" cy="9580753"/>
            </a:xfrm>
            <a:custGeom>
              <a:avLst/>
              <a:gdLst/>
              <a:ahLst/>
              <a:cxnLst/>
              <a:rect l="l" t="t" r="r" b="b"/>
              <a:pathLst>
                <a:path w="14830425" h="9580753">
                  <a:moveTo>
                    <a:pt x="14830425" y="9580753"/>
                  </a:moveTo>
                  <a:lnTo>
                    <a:pt x="14830425" y="0"/>
                  </a:lnTo>
                  <a:lnTo>
                    <a:pt x="0" y="9580753"/>
                  </a:lnTo>
                  <a:close/>
                </a:path>
              </a:pathLst>
            </a:custGeom>
            <a:solidFill>
              <a:srgbClr val="C4A15A"/>
            </a:solidFill>
          </p:spPr>
        </p:sp>
      </p:grpSp>
      <p:grpSp>
        <p:nvGrpSpPr>
          <p:cNvPr id="6" name="Group 6"/>
          <p:cNvGrpSpPr/>
          <p:nvPr/>
        </p:nvGrpSpPr>
        <p:grpSpPr>
          <a:xfrm rot="-10800000">
            <a:off x="10117807" y="0"/>
            <a:ext cx="8170202" cy="4105199"/>
            <a:chOff x="0" y="0"/>
            <a:chExt cx="10893603" cy="54735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893552" cy="5473573"/>
            </a:xfrm>
            <a:custGeom>
              <a:avLst/>
              <a:gdLst/>
              <a:ahLst/>
              <a:cxnLst/>
              <a:rect l="l" t="t" r="r" b="b"/>
              <a:pathLst>
                <a:path w="10893552" h="5473573">
                  <a:moveTo>
                    <a:pt x="0" y="5473573"/>
                  </a:moveTo>
                  <a:lnTo>
                    <a:pt x="0" y="0"/>
                  </a:lnTo>
                  <a:lnTo>
                    <a:pt x="10893552" y="5473573"/>
                  </a:lnTo>
                  <a:close/>
                </a:path>
              </a:pathLst>
            </a:custGeom>
            <a:solidFill>
              <a:srgbClr val="233A44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406546" y="412499"/>
            <a:ext cx="17475003" cy="9462002"/>
            <a:chOff x="0" y="0"/>
            <a:chExt cx="23300004" cy="1261600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300055" cy="12616053"/>
            </a:xfrm>
            <a:custGeom>
              <a:avLst/>
              <a:gdLst/>
              <a:ahLst/>
              <a:cxnLst/>
              <a:rect l="l" t="t" r="r" b="b"/>
              <a:pathLst>
                <a:path w="23300055" h="12616053">
                  <a:moveTo>
                    <a:pt x="0" y="0"/>
                  </a:moveTo>
                  <a:lnTo>
                    <a:pt x="23300055" y="0"/>
                  </a:lnTo>
                  <a:lnTo>
                    <a:pt x="23300055" y="12616053"/>
                  </a:lnTo>
                  <a:lnTo>
                    <a:pt x="0" y="1261605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510397" y="1181"/>
            <a:ext cx="4500724" cy="2088604"/>
          </a:xfrm>
          <a:custGeom>
            <a:avLst/>
            <a:gdLst/>
            <a:ahLst/>
            <a:cxnLst/>
            <a:rect l="l" t="t" r="r" b="b"/>
            <a:pathLst>
              <a:path w="4500724" h="2088604">
                <a:moveTo>
                  <a:pt x="0" y="0"/>
                </a:moveTo>
                <a:lnTo>
                  <a:pt x="4500725" y="0"/>
                </a:lnTo>
                <a:lnTo>
                  <a:pt x="4500725" y="2088604"/>
                </a:lnTo>
                <a:lnTo>
                  <a:pt x="0" y="20886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810788" y="1181"/>
            <a:ext cx="4500724" cy="2088604"/>
          </a:xfrm>
          <a:custGeom>
            <a:avLst/>
            <a:gdLst/>
            <a:ahLst/>
            <a:cxnLst/>
            <a:rect l="l" t="t" r="r" b="b"/>
            <a:pathLst>
              <a:path w="4500724" h="2088604">
                <a:moveTo>
                  <a:pt x="0" y="0"/>
                </a:moveTo>
                <a:lnTo>
                  <a:pt x="4500725" y="0"/>
                </a:lnTo>
                <a:lnTo>
                  <a:pt x="4500725" y="2088604"/>
                </a:lnTo>
                <a:lnTo>
                  <a:pt x="0" y="20886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4114936" y="10173"/>
            <a:ext cx="3702558" cy="1504217"/>
          </a:xfrm>
          <a:custGeom>
            <a:avLst/>
            <a:gdLst/>
            <a:ahLst/>
            <a:cxnLst/>
            <a:rect l="l" t="t" r="r" b="b"/>
            <a:pathLst>
              <a:path w="3702558" h="1504217">
                <a:moveTo>
                  <a:pt x="0" y="0"/>
                </a:moveTo>
                <a:lnTo>
                  <a:pt x="3702558" y="0"/>
                </a:lnTo>
                <a:lnTo>
                  <a:pt x="3702558" y="1504216"/>
                </a:lnTo>
                <a:lnTo>
                  <a:pt x="0" y="15042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106067" y="8435702"/>
            <a:ext cx="4778131" cy="1851469"/>
          </a:xfrm>
          <a:custGeom>
            <a:avLst/>
            <a:gdLst/>
            <a:ahLst/>
            <a:cxnLst/>
            <a:rect l="l" t="t" r="r" b="b"/>
            <a:pathLst>
              <a:path w="4778131" h="1851469">
                <a:moveTo>
                  <a:pt x="0" y="0"/>
                </a:moveTo>
                <a:lnTo>
                  <a:pt x="4778130" y="0"/>
                </a:lnTo>
                <a:lnTo>
                  <a:pt x="4778130" y="1851469"/>
                </a:lnTo>
                <a:lnTo>
                  <a:pt x="0" y="18514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398297" y="8111300"/>
            <a:ext cx="5590823" cy="2166614"/>
          </a:xfrm>
          <a:custGeom>
            <a:avLst/>
            <a:gdLst/>
            <a:ahLst/>
            <a:cxnLst/>
            <a:rect l="l" t="t" r="r" b="b"/>
            <a:pathLst>
              <a:path w="5590823" h="2166614">
                <a:moveTo>
                  <a:pt x="0" y="0"/>
                </a:moveTo>
                <a:lnTo>
                  <a:pt x="5590823" y="0"/>
                </a:lnTo>
                <a:lnTo>
                  <a:pt x="5590823" y="2166613"/>
                </a:lnTo>
                <a:lnTo>
                  <a:pt x="0" y="21666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6624026" y="3941850"/>
            <a:ext cx="4925649" cy="3629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PRESENTED BY: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Students Name:- Mayank Jindal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Roll No: 240290154079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Students Name:-Yash Kumar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Roll No:2402901540141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Students Name:-Saina Sharma 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Roll No: 2402901540100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Students Name:-Rishika Garg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Roll No: 2402901540097</a:t>
            </a: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2819400" y="1479423"/>
            <a:ext cx="12534900" cy="1489695"/>
            <a:chOff x="0" y="0"/>
            <a:chExt cx="16713200" cy="19862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713200" cy="1986219"/>
            </a:xfrm>
            <a:custGeom>
              <a:avLst/>
              <a:gdLst/>
              <a:ahLst/>
              <a:cxnLst/>
              <a:rect l="l" t="t" r="r" b="b"/>
              <a:pathLst>
                <a:path w="16713200" h="1986219">
                  <a:moveTo>
                    <a:pt x="0" y="0"/>
                  </a:moveTo>
                  <a:lnTo>
                    <a:pt x="16713200" y="0"/>
                  </a:lnTo>
                  <a:lnTo>
                    <a:pt x="16713200" y="1986219"/>
                  </a:lnTo>
                  <a:lnTo>
                    <a:pt x="0" y="1986219"/>
                  </a:ln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AF7B51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16713200" cy="201483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3D459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Project Id:-2026-MPJ-3CSDS-23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3D459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RepoGuard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47062" y="486385"/>
            <a:ext cx="1541659" cy="1147867"/>
            <a:chOff x="0" y="0"/>
            <a:chExt cx="2055546" cy="1530490"/>
          </a:xfrm>
        </p:grpSpPr>
        <p:sp>
          <p:nvSpPr>
            <p:cNvPr id="20" name="Freeform 20" descr="IMG_20230426_160521.jpg"/>
            <p:cNvSpPr/>
            <p:nvPr/>
          </p:nvSpPr>
          <p:spPr>
            <a:xfrm>
              <a:off x="0" y="0"/>
              <a:ext cx="2055495" cy="1530477"/>
            </a:xfrm>
            <a:custGeom>
              <a:avLst/>
              <a:gdLst/>
              <a:ahLst/>
              <a:cxnLst/>
              <a:rect l="l" t="t" r="r" b="b"/>
              <a:pathLst>
                <a:path w="2055495" h="1530477">
                  <a:moveTo>
                    <a:pt x="0" y="0"/>
                  </a:moveTo>
                  <a:lnTo>
                    <a:pt x="2055495" y="0"/>
                  </a:lnTo>
                  <a:lnTo>
                    <a:pt x="2055495" y="1530477"/>
                  </a:lnTo>
                  <a:lnTo>
                    <a:pt x="0" y="15304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4013" r="-2" b="-14014"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2301240" y="7681560"/>
            <a:ext cx="14485620" cy="1835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1" spc="-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ABES Institute of Technology , Ghaziabad</a:t>
            </a:r>
          </a:p>
          <a:p>
            <a:pPr algn="ctr">
              <a:lnSpc>
                <a:spcPts val="3359"/>
              </a:lnSpc>
            </a:pPr>
            <a:r>
              <a:rPr lang="en-US" sz="2799" b="1" spc="-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Affiliated to:</a:t>
            </a:r>
          </a:p>
          <a:p>
            <a:pPr algn="ctr">
              <a:lnSpc>
                <a:spcPts val="3359"/>
              </a:lnSpc>
            </a:pPr>
            <a:r>
              <a:rPr lang="en-US" sz="2799" b="1" spc="-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DR. A.P.J.  Abdul Kalam Technical University </a:t>
            </a:r>
          </a:p>
          <a:p>
            <a:pPr algn="ctr">
              <a:lnSpc>
                <a:spcPts val="3359"/>
              </a:lnSpc>
            </a:pPr>
            <a:r>
              <a:rPr lang="en-US" sz="2799" b="1" spc="-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Session 2026-27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611441" y="3145841"/>
            <a:ext cx="13137118" cy="675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 spc="-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 of Computer Science &amp; Engineering (Data Science) 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4673596" y="449942"/>
            <a:ext cx="2904744" cy="1067581"/>
            <a:chOff x="0" y="0"/>
            <a:chExt cx="3872992" cy="142344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872992" cy="1423416"/>
            </a:xfrm>
            <a:custGeom>
              <a:avLst/>
              <a:gdLst/>
              <a:ahLst/>
              <a:cxnLst/>
              <a:rect l="l" t="t" r="r" b="b"/>
              <a:pathLst>
                <a:path w="3872992" h="1423416">
                  <a:moveTo>
                    <a:pt x="0" y="0"/>
                  </a:moveTo>
                  <a:lnTo>
                    <a:pt x="3872992" y="0"/>
                  </a:lnTo>
                  <a:lnTo>
                    <a:pt x="3872992" y="1423416"/>
                  </a:lnTo>
                  <a:lnTo>
                    <a:pt x="0" y="1423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5236" r="-15236" b="-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65200" y="3101397"/>
            <a:ext cx="11122800" cy="7185603"/>
            <a:chOff x="0" y="0"/>
            <a:chExt cx="14830400" cy="95808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830425" cy="9580753"/>
            </a:xfrm>
            <a:custGeom>
              <a:avLst/>
              <a:gdLst/>
              <a:ahLst/>
              <a:cxnLst/>
              <a:rect l="l" t="t" r="r" b="b"/>
              <a:pathLst>
                <a:path w="14830425" h="9580753">
                  <a:moveTo>
                    <a:pt x="14830425" y="9580753"/>
                  </a:moveTo>
                  <a:lnTo>
                    <a:pt x="14830425" y="0"/>
                  </a:lnTo>
                  <a:lnTo>
                    <a:pt x="0" y="9580753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7" y="5649001"/>
            <a:ext cx="14740804" cy="4637999"/>
            <a:chOff x="0" y="0"/>
            <a:chExt cx="19654406" cy="618399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654393" cy="6184011"/>
            </a:xfrm>
            <a:custGeom>
              <a:avLst/>
              <a:gdLst/>
              <a:ahLst/>
              <a:cxnLst/>
              <a:rect l="l" t="t" r="r" b="b"/>
              <a:pathLst>
                <a:path w="19654393" h="6184011">
                  <a:moveTo>
                    <a:pt x="0" y="6184011"/>
                  </a:moveTo>
                  <a:lnTo>
                    <a:pt x="0" y="0"/>
                  </a:lnTo>
                  <a:lnTo>
                    <a:pt x="19654393" y="6184011"/>
                  </a:lnTo>
                  <a:close/>
                </a:path>
              </a:pathLst>
            </a:custGeom>
            <a:solidFill>
              <a:srgbClr val="C4A15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406451" y="412499"/>
            <a:ext cx="17475003" cy="9462002"/>
            <a:chOff x="0" y="0"/>
            <a:chExt cx="23300004" cy="126160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300055" cy="12616053"/>
            </a:xfrm>
            <a:custGeom>
              <a:avLst/>
              <a:gdLst/>
              <a:ahLst/>
              <a:cxnLst/>
              <a:rect l="l" t="t" r="r" b="b"/>
              <a:pathLst>
                <a:path w="23300055" h="12616053">
                  <a:moveTo>
                    <a:pt x="0" y="0"/>
                  </a:moveTo>
                  <a:lnTo>
                    <a:pt x="23300055" y="0"/>
                  </a:lnTo>
                  <a:lnTo>
                    <a:pt x="23300055" y="12616053"/>
                  </a:lnTo>
                  <a:lnTo>
                    <a:pt x="0" y="1261605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729721" y="962873"/>
            <a:ext cx="14828549" cy="141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55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Table of Content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58835" y="2106333"/>
            <a:ext cx="11423268" cy="5498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4"/>
              </a:lnSpc>
            </a:pPr>
            <a:r>
              <a:rPr lang="en-US" sz="3603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Problem Statement </a:t>
            </a:r>
          </a:p>
          <a:p>
            <a:pPr algn="just">
              <a:lnSpc>
                <a:spcPts val="4324"/>
              </a:lnSpc>
            </a:pPr>
            <a:r>
              <a:rPr lang="en-US" sz="3603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Introduction</a:t>
            </a:r>
          </a:p>
          <a:p>
            <a:pPr algn="just">
              <a:lnSpc>
                <a:spcPts val="4324"/>
              </a:lnSpc>
            </a:pPr>
            <a:r>
              <a:rPr lang="en-US" sz="3603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Objective</a:t>
            </a:r>
          </a:p>
          <a:p>
            <a:pPr algn="just">
              <a:lnSpc>
                <a:spcPts val="4324"/>
              </a:lnSpc>
            </a:pPr>
            <a:r>
              <a:rPr lang="en-US" sz="3603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Literature Survey</a:t>
            </a:r>
          </a:p>
          <a:p>
            <a:pPr algn="just">
              <a:lnSpc>
                <a:spcPts val="4324"/>
              </a:lnSpc>
            </a:pPr>
            <a:r>
              <a:rPr lang="en-US" sz="3603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Proposed Methodology</a:t>
            </a:r>
          </a:p>
          <a:p>
            <a:pPr algn="just">
              <a:lnSpc>
                <a:spcPts val="4324"/>
              </a:lnSpc>
            </a:pPr>
            <a:r>
              <a:rPr lang="en-US" sz="3603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Proposed Implementation</a:t>
            </a:r>
          </a:p>
          <a:p>
            <a:pPr algn="just">
              <a:lnSpc>
                <a:spcPts val="4324"/>
              </a:lnSpc>
            </a:pPr>
            <a:r>
              <a:rPr lang="en-US" sz="3603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Key features</a:t>
            </a:r>
          </a:p>
          <a:p>
            <a:pPr algn="l">
              <a:lnSpc>
                <a:spcPts val="4324"/>
              </a:lnSpc>
            </a:pPr>
            <a:r>
              <a:rPr lang="en-US" sz="3603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 Teck Stack</a:t>
            </a:r>
          </a:p>
          <a:p>
            <a:pPr algn="l">
              <a:lnSpc>
                <a:spcPts val="4324"/>
              </a:lnSpc>
            </a:pPr>
            <a:r>
              <a:rPr lang="en-US" sz="3603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 SDG Goals</a:t>
            </a:r>
          </a:p>
          <a:p>
            <a:pPr algn="l">
              <a:lnSpc>
                <a:spcPts val="4324"/>
              </a:lnSpc>
            </a:pPr>
            <a:r>
              <a:rPr lang="en-US" sz="3603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10. Refrences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6781469" y="9087336"/>
            <a:ext cx="1097404" cy="787203"/>
            <a:chOff x="0" y="0"/>
            <a:chExt cx="1463205" cy="104960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2036" r="-42036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463205" cy="10496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233A44"/>
                  </a:solidFill>
                  <a:latin typeface="Nunito"/>
                  <a:ea typeface="Nunito"/>
                  <a:cs typeface="Nunito"/>
                  <a:sym typeface="Nunito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65200" y="3101397"/>
            <a:ext cx="11122800" cy="7185603"/>
            <a:chOff x="0" y="0"/>
            <a:chExt cx="14830400" cy="95808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830425" cy="9580753"/>
            </a:xfrm>
            <a:custGeom>
              <a:avLst/>
              <a:gdLst/>
              <a:ahLst/>
              <a:cxnLst/>
              <a:rect l="l" t="t" r="r" b="b"/>
              <a:pathLst>
                <a:path w="14830425" h="9580753">
                  <a:moveTo>
                    <a:pt x="14830425" y="9580753"/>
                  </a:moveTo>
                  <a:lnTo>
                    <a:pt x="14830425" y="0"/>
                  </a:lnTo>
                  <a:lnTo>
                    <a:pt x="0" y="9580753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7" y="5649001"/>
            <a:ext cx="14740804" cy="4637999"/>
            <a:chOff x="0" y="0"/>
            <a:chExt cx="19654406" cy="618399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654393" cy="6184011"/>
            </a:xfrm>
            <a:custGeom>
              <a:avLst/>
              <a:gdLst/>
              <a:ahLst/>
              <a:cxnLst/>
              <a:rect l="l" t="t" r="r" b="b"/>
              <a:pathLst>
                <a:path w="19654393" h="6184011">
                  <a:moveTo>
                    <a:pt x="0" y="6184011"/>
                  </a:moveTo>
                  <a:lnTo>
                    <a:pt x="0" y="0"/>
                  </a:lnTo>
                  <a:lnTo>
                    <a:pt x="19654393" y="6184011"/>
                  </a:lnTo>
                  <a:close/>
                </a:path>
              </a:pathLst>
            </a:custGeom>
            <a:solidFill>
              <a:srgbClr val="C4A15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406451" y="412499"/>
            <a:ext cx="17475003" cy="9462002"/>
            <a:chOff x="0" y="0"/>
            <a:chExt cx="23300004" cy="126160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300055" cy="12616053"/>
            </a:xfrm>
            <a:custGeom>
              <a:avLst/>
              <a:gdLst/>
              <a:ahLst/>
              <a:cxnLst/>
              <a:rect l="l" t="t" r="r" b="b"/>
              <a:pathLst>
                <a:path w="23300055" h="12616053">
                  <a:moveTo>
                    <a:pt x="0" y="0"/>
                  </a:moveTo>
                  <a:lnTo>
                    <a:pt x="23300055" y="0"/>
                  </a:lnTo>
                  <a:lnTo>
                    <a:pt x="23300055" y="12616053"/>
                  </a:lnTo>
                  <a:lnTo>
                    <a:pt x="0" y="12616053"/>
                  </a:lnTo>
                  <a:close/>
                </a:path>
              </a:pathLst>
            </a:custGeom>
            <a:blipFill>
              <a:blip r:embed="rId2"/>
              <a:stretch>
                <a:fillRect t="-1538" b="-1538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65200" y="3101397"/>
            <a:ext cx="11122800" cy="7185603"/>
            <a:chOff x="0" y="0"/>
            <a:chExt cx="14830400" cy="95808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830425" cy="9580753"/>
            </a:xfrm>
            <a:custGeom>
              <a:avLst/>
              <a:gdLst/>
              <a:ahLst/>
              <a:cxnLst/>
              <a:rect l="l" t="t" r="r" b="b"/>
              <a:pathLst>
                <a:path w="14830425" h="9580753">
                  <a:moveTo>
                    <a:pt x="14830425" y="9580753"/>
                  </a:moveTo>
                  <a:lnTo>
                    <a:pt x="14830425" y="0"/>
                  </a:lnTo>
                  <a:lnTo>
                    <a:pt x="0" y="9580753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7" y="5649001"/>
            <a:ext cx="14740804" cy="4637999"/>
            <a:chOff x="0" y="0"/>
            <a:chExt cx="19654406" cy="618399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654393" cy="6184011"/>
            </a:xfrm>
            <a:custGeom>
              <a:avLst/>
              <a:gdLst/>
              <a:ahLst/>
              <a:cxnLst/>
              <a:rect l="l" t="t" r="r" b="b"/>
              <a:pathLst>
                <a:path w="19654393" h="6184011">
                  <a:moveTo>
                    <a:pt x="0" y="6184011"/>
                  </a:moveTo>
                  <a:lnTo>
                    <a:pt x="0" y="0"/>
                  </a:lnTo>
                  <a:lnTo>
                    <a:pt x="19654393" y="6184011"/>
                  </a:lnTo>
                  <a:close/>
                </a:path>
              </a:pathLst>
            </a:custGeom>
            <a:solidFill>
              <a:srgbClr val="C4A15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406451" y="412499"/>
            <a:ext cx="17475003" cy="9462002"/>
            <a:chOff x="0" y="0"/>
            <a:chExt cx="23300004" cy="126160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300055" cy="12616053"/>
            </a:xfrm>
            <a:custGeom>
              <a:avLst/>
              <a:gdLst/>
              <a:ahLst/>
              <a:cxnLst/>
              <a:rect l="l" t="t" r="r" b="b"/>
              <a:pathLst>
                <a:path w="23300055" h="12616053">
                  <a:moveTo>
                    <a:pt x="0" y="0"/>
                  </a:moveTo>
                  <a:lnTo>
                    <a:pt x="23300055" y="0"/>
                  </a:lnTo>
                  <a:lnTo>
                    <a:pt x="23300055" y="12616053"/>
                  </a:lnTo>
                  <a:lnTo>
                    <a:pt x="0" y="12616053"/>
                  </a:lnTo>
                  <a:close/>
                </a:path>
              </a:pathLst>
            </a:custGeom>
            <a:blipFill>
              <a:blip r:embed="rId2"/>
              <a:stretch>
                <a:fillRect t="-1538" b="-1538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65200" y="3101397"/>
            <a:ext cx="11122800" cy="7185603"/>
            <a:chOff x="0" y="0"/>
            <a:chExt cx="14830400" cy="95808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830425" cy="9580753"/>
            </a:xfrm>
            <a:custGeom>
              <a:avLst/>
              <a:gdLst/>
              <a:ahLst/>
              <a:cxnLst/>
              <a:rect l="l" t="t" r="r" b="b"/>
              <a:pathLst>
                <a:path w="14830425" h="9580753">
                  <a:moveTo>
                    <a:pt x="14830425" y="9580753"/>
                  </a:moveTo>
                  <a:lnTo>
                    <a:pt x="14830425" y="0"/>
                  </a:lnTo>
                  <a:lnTo>
                    <a:pt x="0" y="9580753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7" y="5649001"/>
            <a:ext cx="14740804" cy="4637999"/>
            <a:chOff x="0" y="0"/>
            <a:chExt cx="19654406" cy="618399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654393" cy="6184011"/>
            </a:xfrm>
            <a:custGeom>
              <a:avLst/>
              <a:gdLst/>
              <a:ahLst/>
              <a:cxnLst/>
              <a:rect l="l" t="t" r="r" b="b"/>
              <a:pathLst>
                <a:path w="19654393" h="6184011">
                  <a:moveTo>
                    <a:pt x="0" y="6184011"/>
                  </a:moveTo>
                  <a:lnTo>
                    <a:pt x="0" y="0"/>
                  </a:lnTo>
                  <a:lnTo>
                    <a:pt x="19654393" y="6184011"/>
                  </a:lnTo>
                  <a:close/>
                </a:path>
              </a:pathLst>
            </a:custGeom>
            <a:solidFill>
              <a:srgbClr val="C4A15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406451" y="412499"/>
            <a:ext cx="17475003" cy="9462002"/>
            <a:chOff x="0" y="0"/>
            <a:chExt cx="23300004" cy="126160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300055" cy="12616053"/>
            </a:xfrm>
            <a:custGeom>
              <a:avLst/>
              <a:gdLst/>
              <a:ahLst/>
              <a:cxnLst/>
              <a:rect l="l" t="t" r="r" b="b"/>
              <a:pathLst>
                <a:path w="23300055" h="12616053">
                  <a:moveTo>
                    <a:pt x="0" y="0"/>
                  </a:moveTo>
                  <a:lnTo>
                    <a:pt x="23300055" y="0"/>
                  </a:lnTo>
                  <a:lnTo>
                    <a:pt x="23300055" y="12616053"/>
                  </a:lnTo>
                  <a:lnTo>
                    <a:pt x="0" y="12616053"/>
                  </a:lnTo>
                  <a:close/>
                </a:path>
              </a:pathLst>
            </a:custGeom>
            <a:blipFill>
              <a:blip r:embed="rId2"/>
              <a:stretch>
                <a:fillRect t="-1538" b="-1538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65200" y="3101397"/>
            <a:ext cx="11122800" cy="7185603"/>
            <a:chOff x="0" y="0"/>
            <a:chExt cx="14830400" cy="95808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830425" cy="9580753"/>
            </a:xfrm>
            <a:custGeom>
              <a:avLst/>
              <a:gdLst/>
              <a:ahLst/>
              <a:cxnLst/>
              <a:rect l="l" t="t" r="r" b="b"/>
              <a:pathLst>
                <a:path w="14830425" h="9580753">
                  <a:moveTo>
                    <a:pt x="14830425" y="9580753"/>
                  </a:moveTo>
                  <a:lnTo>
                    <a:pt x="14830425" y="0"/>
                  </a:lnTo>
                  <a:lnTo>
                    <a:pt x="0" y="9580753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7" y="5649001"/>
            <a:ext cx="14740804" cy="4637999"/>
            <a:chOff x="0" y="0"/>
            <a:chExt cx="19654406" cy="618399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654393" cy="6184011"/>
            </a:xfrm>
            <a:custGeom>
              <a:avLst/>
              <a:gdLst/>
              <a:ahLst/>
              <a:cxnLst/>
              <a:rect l="l" t="t" r="r" b="b"/>
              <a:pathLst>
                <a:path w="19654393" h="6184011">
                  <a:moveTo>
                    <a:pt x="0" y="6184011"/>
                  </a:moveTo>
                  <a:lnTo>
                    <a:pt x="0" y="0"/>
                  </a:lnTo>
                  <a:lnTo>
                    <a:pt x="19654393" y="6184011"/>
                  </a:lnTo>
                  <a:close/>
                </a:path>
              </a:pathLst>
            </a:custGeom>
            <a:solidFill>
              <a:srgbClr val="C4A15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406451" y="412499"/>
            <a:ext cx="17475003" cy="9462002"/>
            <a:chOff x="0" y="0"/>
            <a:chExt cx="23300004" cy="126160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300055" cy="12616053"/>
            </a:xfrm>
            <a:custGeom>
              <a:avLst/>
              <a:gdLst/>
              <a:ahLst/>
              <a:cxnLst/>
              <a:rect l="l" t="t" r="r" b="b"/>
              <a:pathLst>
                <a:path w="23300055" h="12616053">
                  <a:moveTo>
                    <a:pt x="0" y="0"/>
                  </a:moveTo>
                  <a:lnTo>
                    <a:pt x="23300055" y="0"/>
                  </a:lnTo>
                  <a:lnTo>
                    <a:pt x="23300055" y="12616053"/>
                  </a:lnTo>
                  <a:lnTo>
                    <a:pt x="0" y="12616053"/>
                  </a:lnTo>
                  <a:close/>
                </a:path>
              </a:pathLst>
            </a:custGeom>
            <a:blipFill>
              <a:blip r:embed="rId2"/>
              <a:stretch>
                <a:fillRect t="-1538" b="-1538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65200" y="3101397"/>
            <a:ext cx="11122800" cy="7185603"/>
            <a:chOff x="0" y="0"/>
            <a:chExt cx="14830400" cy="95808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830425" cy="9580753"/>
            </a:xfrm>
            <a:custGeom>
              <a:avLst/>
              <a:gdLst/>
              <a:ahLst/>
              <a:cxnLst/>
              <a:rect l="l" t="t" r="r" b="b"/>
              <a:pathLst>
                <a:path w="14830425" h="9580753">
                  <a:moveTo>
                    <a:pt x="14830425" y="9580753"/>
                  </a:moveTo>
                  <a:lnTo>
                    <a:pt x="14830425" y="0"/>
                  </a:lnTo>
                  <a:lnTo>
                    <a:pt x="0" y="9580753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7" y="5649001"/>
            <a:ext cx="14740804" cy="4637999"/>
            <a:chOff x="0" y="0"/>
            <a:chExt cx="19654406" cy="618399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654393" cy="6184011"/>
            </a:xfrm>
            <a:custGeom>
              <a:avLst/>
              <a:gdLst/>
              <a:ahLst/>
              <a:cxnLst/>
              <a:rect l="l" t="t" r="r" b="b"/>
              <a:pathLst>
                <a:path w="19654393" h="6184011">
                  <a:moveTo>
                    <a:pt x="0" y="6184011"/>
                  </a:moveTo>
                  <a:lnTo>
                    <a:pt x="0" y="0"/>
                  </a:lnTo>
                  <a:lnTo>
                    <a:pt x="19654393" y="6184011"/>
                  </a:lnTo>
                  <a:close/>
                </a:path>
              </a:pathLst>
            </a:custGeom>
            <a:solidFill>
              <a:srgbClr val="C4A15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406451" y="412499"/>
            <a:ext cx="17475003" cy="9462002"/>
            <a:chOff x="0" y="0"/>
            <a:chExt cx="23300004" cy="126160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300055" cy="12616053"/>
            </a:xfrm>
            <a:custGeom>
              <a:avLst/>
              <a:gdLst/>
              <a:ahLst/>
              <a:cxnLst/>
              <a:rect l="l" t="t" r="r" b="b"/>
              <a:pathLst>
                <a:path w="23300055" h="12616053">
                  <a:moveTo>
                    <a:pt x="0" y="0"/>
                  </a:moveTo>
                  <a:lnTo>
                    <a:pt x="23300055" y="0"/>
                  </a:lnTo>
                  <a:lnTo>
                    <a:pt x="23300055" y="12616053"/>
                  </a:lnTo>
                  <a:lnTo>
                    <a:pt x="0" y="12616053"/>
                  </a:lnTo>
                  <a:close/>
                </a:path>
              </a:pathLst>
            </a:custGeom>
            <a:blipFill>
              <a:blip r:embed="rId2"/>
              <a:stretch>
                <a:fillRect t="-1538" b="-1538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65200" y="3101397"/>
            <a:ext cx="11122800" cy="7185603"/>
            <a:chOff x="0" y="0"/>
            <a:chExt cx="14830400" cy="95808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830425" cy="9580753"/>
            </a:xfrm>
            <a:custGeom>
              <a:avLst/>
              <a:gdLst/>
              <a:ahLst/>
              <a:cxnLst/>
              <a:rect l="l" t="t" r="r" b="b"/>
              <a:pathLst>
                <a:path w="14830425" h="9580753">
                  <a:moveTo>
                    <a:pt x="14830425" y="9580753"/>
                  </a:moveTo>
                  <a:lnTo>
                    <a:pt x="14830425" y="0"/>
                  </a:lnTo>
                  <a:lnTo>
                    <a:pt x="0" y="9580753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7" y="5649001"/>
            <a:ext cx="14740804" cy="4637999"/>
            <a:chOff x="0" y="0"/>
            <a:chExt cx="19654406" cy="618399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654393" cy="6184011"/>
            </a:xfrm>
            <a:custGeom>
              <a:avLst/>
              <a:gdLst/>
              <a:ahLst/>
              <a:cxnLst/>
              <a:rect l="l" t="t" r="r" b="b"/>
              <a:pathLst>
                <a:path w="19654393" h="6184011">
                  <a:moveTo>
                    <a:pt x="0" y="6184011"/>
                  </a:moveTo>
                  <a:lnTo>
                    <a:pt x="0" y="0"/>
                  </a:lnTo>
                  <a:lnTo>
                    <a:pt x="19654393" y="6184011"/>
                  </a:lnTo>
                  <a:close/>
                </a:path>
              </a:pathLst>
            </a:custGeom>
            <a:solidFill>
              <a:srgbClr val="C4A15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406451" y="412499"/>
            <a:ext cx="17475003" cy="9462002"/>
            <a:chOff x="0" y="0"/>
            <a:chExt cx="23300004" cy="126160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300055" cy="12616053"/>
            </a:xfrm>
            <a:custGeom>
              <a:avLst/>
              <a:gdLst/>
              <a:ahLst/>
              <a:cxnLst/>
              <a:rect l="l" t="t" r="r" b="b"/>
              <a:pathLst>
                <a:path w="23300055" h="12616053">
                  <a:moveTo>
                    <a:pt x="0" y="0"/>
                  </a:moveTo>
                  <a:lnTo>
                    <a:pt x="23300055" y="0"/>
                  </a:lnTo>
                  <a:lnTo>
                    <a:pt x="23300055" y="12616053"/>
                  </a:lnTo>
                  <a:lnTo>
                    <a:pt x="0" y="12616053"/>
                  </a:lnTo>
                  <a:close/>
                </a:path>
              </a:pathLst>
            </a:custGeom>
            <a:blipFill>
              <a:blip r:embed="rId2"/>
              <a:stretch>
                <a:fillRect t="-1538" b="-1538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65200" y="3101397"/>
            <a:ext cx="11122800" cy="7185603"/>
            <a:chOff x="0" y="0"/>
            <a:chExt cx="14830400" cy="95808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830425" cy="9580753"/>
            </a:xfrm>
            <a:custGeom>
              <a:avLst/>
              <a:gdLst/>
              <a:ahLst/>
              <a:cxnLst/>
              <a:rect l="l" t="t" r="r" b="b"/>
              <a:pathLst>
                <a:path w="14830425" h="9580753">
                  <a:moveTo>
                    <a:pt x="14830425" y="9580753"/>
                  </a:moveTo>
                  <a:lnTo>
                    <a:pt x="14830425" y="0"/>
                  </a:lnTo>
                  <a:lnTo>
                    <a:pt x="0" y="9580753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7" y="5649001"/>
            <a:ext cx="14740804" cy="4637999"/>
            <a:chOff x="0" y="0"/>
            <a:chExt cx="19654406" cy="618399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654393" cy="6184011"/>
            </a:xfrm>
            <a:custGeom>
              <a:avLst/>
              <a:gdLst/>
              <a:ahLst/>
              <a:cxnLst/>
              <a:rect l="l" t="t" r="r" b="b"/>
              <a:pathLst>
                <a:path w="19654393" h="6184011">
                  <a:moveTo>
                    <a:pt x="0" y="6184011"/>
                  </a:moveTo>
                  <a:lnTo>
                    <a:pt x="0" y="0"/>
                  </a:lnTo>
                  <a:lnTo>
                    <a:pt x="19654393" y="6184011"/>
                  </a:lnTo>
                  <a:close/>
                </a:path>
              </a:pathLst>
            </a:custGeom>
            <a:solidFill>
              <a:srgbClr val="C4A15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406451" y="412499"/>
            <a:ext cx="17475003" cy="9462002"/>
            <a:chOff x="0" y="0"/>
            <a:chExt cx="23300004" cy="126160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300055" cy="12616053"/>
            </a:xfrm>
            <a:custGeom>
              <a:avLst/>
              <a:gdLst/>
              <a:ahLst/>
              <a:cxnLst/>
              <a:rect l="l" t="t" r="r" b="b"/>
              <a:pathLst>
                <a:path w="23300055" h="12616053">
                  <a:moveTo>
                    <a:pt x="0" y="0"/>
                  </a:moveTo>
                  <a:lnTo>
                    <a:pt x="23300055" y="0"/>
                  </a:lnTo>
                  <a:lnTo>
                    <a:pt x="23300055" y="12616053"/>
                  </a:lnTo>
                  <a:lnTo>
                    <a:pt x="0" y="12616053"/>
                  </a:lnTo>
                  <a:close/>
                </a:path>
              </a:pathLst>
            </a:custGeom>
            <a:blipFill>
              <a:blip r:embed="rId2"/>
              <a:stretch>
                <a:fillRect t="-1538" b="-1538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65200" y="3101397"/>
            <a:ext cx="11122800" cy="7185603"/>
            <a:chOff x="0" y="0"/>
            <a:chExt cx="14830400" cy="95808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830425" cy="9580753"/>
            </a:xfrm>
            <a:custGeom>
              <a:avLst/>
              <a:gdLst/>
              <a:ahLst/>
              <a:cxnLst/>
              <a:rect l="l" t="t" r="r" b="b"/>
              <a:pathLst>
                <a:path w="14830425" h="9580753">
                  <a:moveTo>
                    <a:pt x="14830425" y="9580753"/>
                  </a:moveTo>
                  <a:lnTo>
                    <a:pt x="14830425" y="0"/>
                  </a:lnTo>
                  <a:lnTo>
                    <a:pt x="0" y="9580753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7" y="5649001"/>
            <a:ext cx="14740804" cy="4637999"/>
            <a:chOff x="0" y="0"/>
            <a:chExt cx="19654406" cy="618399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654393" cy="6184011"/>
            </a:xfrm>
            <a:custGeom>
              <a:avLst/>
              <a:gdLst/>
              <a:ahLst/>
              <a:cxnLst/>
              <a:rect l="l" t="t" r="r" b="b"/>
              <a:pathLst>
                <a:path w="19654393" h="6184011">
                  <a:moveTo>
                    <a:pt x="0" y="6184011"/>
                  </a:moveTo>
                  <a:lnTo>
                    <a:pt x="0" y="0"/>
                  </a:lnTo>
                  <a:lnTo>
                    <a:pt x="19654393" y="6184011"/>
                  </a:lnTo>
                  <a:close/>
                </a:path>
              </a:pathLst>
            </a:custGeom>
            <a:solidFill>
              <a:srgbClr val="C4A15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406451" y="412499"/>
            <a:ext cx="17475003" cy="9462002"/>
            <a:chOff x="0" y="0"/>
            <a:chExt cx="23300004" cy="126160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300055" cy="12616053"/>
            </a:xfrm>
            <a:custGeom>
              <a:avLst/>
              <a:gdLst/>
              <a:ahLst/>
              <a:cxnLst/>
              <a:rect l="l" t="t" r="r" b="b"/>
              <a:pathLst>
                <a:path w="23300055" h="12616053">
                  <a:moveTo>
                    <a:pt x="0" y="0"/>
                  </a:moveTo>
                  <a:lnTo>
                    <a:pt x="23300055" y="0"/>
                  </a:lnTo>
                  <a:lnTo>
                    <a:pt x="23300055" y="12616053"/>
                  </a:lnTo>
                  <a:lnTo>
                    <a:pt x="0" y="12616053"/>
                  </a:lnTo>
                  <a:close/>
                </a:path>
              </a:pathLst>
            </a:custGeom>
            <a:blipFill>
              <a:blip r:embed="rId2"/>
              <a:stretch>
                <a:fillRect t="-1538" b="-1538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65200" y="3101397"/>
            <a:ext cx="11122800" cy="7185603"/>
            <a:chOff x="0" y="0"/>
            <a:chExt cx="14830400" cy="95808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830425" cy="9580753"/>
            </a:xfrm>
            <a:custGeom>
              <a:avLst/>
              <a:gdLst/>
              <a:ahLst/>
              <a:cxnLst/>
              <a:rect l="l" t="t" r="r" b="b"/>
              <a:pathLst>
                <a:path w="14830425" h="9580753">
                  <a:moveTo>
                    <a:pt x="14830425" y="9580753"/>
                  </a:moveTo>
                  <a:lnTo>
                    <a:pt x="14830425" y="0"/>
                  </a:lnTo>
                  <a:lnTo>
                    <a:pt x="0" y="9580753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7" y="5649001"/>
            <a:ext cx="14740804" cy="4637999"/>
            <a:chOff x="0" y="0"/>
            <a:chExt cx="19654406" cy="618399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654393" cy="6184011"/>
            </a:xfrm>
            <a:custGeom>
              <a:avLst/>
              <a:gdLst/>
              <a:ahLst/>
              <a:cxnLst/>
              <a:rect l="l" t="t" r="r" b="b"/>
              <a:pathLst>
                <a:path w="19654393" h="6184011">
                  <a:moveTo>
                    <a:pt x="0" y="6184011"/>
                  </a:moveTo>
                  <a:lnTo>
                    <a:pt x="0" y="0"/>
                  </a:lnTo>
                  <a:lnTo>
                    <a:pt x="19654393" y="6184011"/>
                  </a:lnTo>
                  <a:close/>
                </a:path>
              </a:pathLst>
            </a:custGeom>
            <a:solidFill>
              <a:srgbClr val="C4A15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406451" y="412499"/>
            <a:ext cx="17475003" cy="9462002"/>
            <a:chOff x="0" y="0"/>
            <a:chExt cx="23300004" cy="126160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300055" cy="12616053"/>
            </a:xfrm>
            <a:custGeom>
              <a:avLst/>
              <a:gdLst/>
              <a:ahLst/>
              <a:cxnLst/>
              <a:rect l="l" t="t" r="r" b="b"/>
              <a:pathLst>
                <a:path w="23300055" h="12616053">
                  <a:moveTo>
                    <a:pt x="0" y="0"/>
                  </a:moveTo>
                  <a:lnTo>
                    <a:pt x="23300055" y="0"/>
                  </a:lnTo>
                  <a:lnTo>
                    <a:pt x="23300055" y="12616053"/>
                  </a:lnTo>
                  <a:lnTo>
                    <a:pt x="0" y="12616053"/>
                  </a:lnTo>
                  <a:close/>
                </a:path>
              </a:pathLst>
            </a:custGeom>
            <a:blipFill>
              <a:blip r:embed="rId2"/>
              <a:stretch>
                <a:fillRect t="-1885" b="-1885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65200" y="3101397"/>
            <a:ext cx="11122800" cy="7185603"/>
            <a:chOff x="0" y="0"/>
            <a:chExt cx="14830400" cy="95808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830425" cy="9580753"/>
            </a:xfrm>
            <a:custGeom>
              <a:avLst/>
              <a:gdLst/>
              <a:ahLst/>
              <a:cxnLst/>
              <a:rect l="l" t="t" r="r" b="b"/>
              <a:pathLst>
                <a:path w="14830425" h="9580753">
                  <a:moveTo>
                    <a:pt x="14830425" y="9580753"/>
                  </a:moveTo>
                  <a:lnTo>
                    <a:pt x="14830425" y="0"/>
                  </a:lnTo>
                  <a:lnTo>
                    <a:pt x="0" y="9580753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7" y="5649001"/>
            <a:ext cx="14740804" cy="4637999"/>
            <a:chOff x="0" y="0"/>
            <a:chExt cx="19654406" cy="618399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654393" cy="6184011"/>
            </a:xfrm>
            <a:custGeom>
              <a:avLst/>
              <a:gdLst/>
              <a:ahLst/>
              <a:cxnLst/>
              <a:rect l="l" t="t" r="r" b="b"/>
              <a:pathLst>
                <a:path w="19654393" h="6184011">
                  <a:moveTo>
                    <a:pt x="0" y="6184011"/>
                  </a:moveTo>
                  <a:lnTo>
                    <a:pt x="0" y="0"/>
                  </a:lnTo>
                  <a:lnTo>
                    <a:pt x="19654393" y="6184011"/>
                  </a:lnTo>
                  <a:close/>
                </a:path>
              </a:pathLst>
            </a:custGeom>
            <a:solidFill>
              <a:srgbClr val="C4A15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406451" y="412499"/>
            <a:ext cx="17475003" cy="9462002"/>
            <a:chOff x="0" y="0"/>
            <a:chExt cx="23300004" cy="126160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300055" cy="12616053"/>
            </a:xfrm>
            <a:custGeom>
              <a:avLst/>
              <a:gdLst/>
              <a:ahLst/>
              <a:cxnLst/>
              <a:rect l="l" t="t" r="r" b="b"/>
              <a:pathLst>
                <a:path w="23300055" h="12616053">
                  <a:moveTo>
                    <a:pt x="0" y="0"/>
                  </a:moveTo>
                  <a:lnTo>
                    <a:pt x="23300055" y="0"/>
                  </a:lnTo>
                  <a:lnTo>
                    <a:pt x="23300055" y="12616053"/>
                  </a:lnTo>
                  <a:lnTo>
                    <a:pt x="0" y="1261605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729721" y="987371"/>
            <a:ext cx="14828549" cy="986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55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References: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6781469" y="9087336"/>
            <a:ext cx="1097404" cy="787203"/>
            <a:chOff x="0" y="0"/>
            <a:chExt cx="1463205" cy="104960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2036" r="-42036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1463205" cy="10496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233A44"/>
                  </a:solidFill>
                  <a:latin typeface="Nunito"/>
                  <a:ea typeface="Nunito"/>
                  <a:cs typeface="Nunito"/>
                  <a:sym typeface="Nunito"/>
                </a:rPr>
                <a:t>9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98087" y="2410832"/>
            <a:ext cx="16866133" cy="680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3400" dirty="0"/>
              <a:t>[1] M. Meli, M. R. McNiece, and B. Reaves, “How Bad Can It Git? Characterizing Secret Leakage in Public GitHub Repositories,” in </a:t>
            </a:r>
            <a:r>
              <a:rPr lang="en-IN" sz="3400" i="1" dirty="0"/>
              <a:t>Network and Distributed System Security Symposium (NDSS)</a:t>
            </a:r>
            <a:r>
              <a:rPr lang="en-IN" sz="3400" dirty="0"/>
              <a:t>, 2019. </a:t>
            </a:r>
          </a:p>
          <a:p>
            <a:r>
              <a:rPr lang="en-IN" sz="3400" dirty="0"/>
              <a:t>[2] M. Zimmermann, C.-A. Staicu, C. Tenny, and M. Pradel, “Small World with High Risks: A Study of Security Threats in the </a:t>
            </a:r>
            <a:r>
              <a:rPr lang="en-IN" sz="3400" dirty="0" err="1"/>
              <a:t>npm</a:t>
            </a:r>
            <a:r>
              <a:rPr lang="en-IN" sz="3400" dirty="0"/>
              <a:t> Ecosystem,” in </a:t>
            </a:r>
            <a:r>
              <a:rPr lang="en-IN" sz="3400" i="1" dirty="0"/>
              <a:t>28th USENIX Security Symposium</a:t>
            </a:r>
            <a:r>
              <a:rPr lang="en-IN" sz="3400" dirty="0"/>
              <a:t>, pp. 995–1010, 2019. </a:t>
            </a:r>
          </a:p>
          <a:p>
            <a:r>
              <a:rPr lang="en-IN" sz="3400" dirty="0"/>
              <a:t>[3] OWASP Foundation, “OWASP Application Security Verification Standard (ASVS), Version 5.0.0,” 2025. </a:t>
            </a:r>
          </a:p>
          <a:p>
            <a:r>
              <a:rPr lang="en-IN" sz="3400" dirty="0"/>
              <a:t>[4] GitHub, “About Secret Scanning,” </a:t>
            </a:r>
            <a:r>
              <a:rPr lang="en-IN" sz="3400" i="1" dirty="0"/>
              <a:t>GitHub Documentation</a:t>
            </a:r>
            <a:r>
              <a:rPr lang="en-IN" sz="3400" dirty="0"/>
              <a:t>, accessed Aug. 1, 2026. </a:t>
            </a:r>
          </a:p>
          <a:p>
            <a:r>
              <a:rPr lang="en-IN" sz="3400" dirty="0"/>
              <a:t>[5] Google, “</a:t>
            </a:r>
            <a:r>
              <a:rPr lang="en-IN" sz="3400" dirty="0" err="1"/>
              <a:t>OSV.dev</a:t>
            </a:r>
            <a:r>
              <a:rPr lang="en-IN" sz="3400" dirty="0"/>
              <a:t>: Open Source Vulnerability Database,” </a:t>
            </a:r>
            <a:r>
              <a:rPr lang="en-IN" sz="3400" i="1" dirty="0"/>
              <a:t>OSV Documentation</a:t>
            </a:r>
            <a:r>
              <a:rPr lang="en-IN" sz="3400" dirty="0"/>
              <a:t>, accessed Aug. 1, 2026. </a:t>
            </a:r>
          </a:p>
          <a:p>
            <a:r>
              <a:rPr lang="en-IN" sz="3400" dirty="0"/>
              <a:t>[6] Z. Rice and Contributors, “</a:t>
            </a:r>
            <a:r>
              <a:rPr lang="en-IN" sz="3400" dirty="0" err="1"/>
              <a:t>Gitleaks</a:t>
            </a:r>
            <a:r>
              <a:rPr lang="en-IN" sz="3400" dirty="0"/>
              <a:t>: Detecting Secrets in Git Repositories, Files, and Directories,” </a:t>
            </a:r>
            <a:r>
              <a:rPr lang="en-IN" sz="3400" i="1" dirty="0" err="1"/>
              <a:t>Gitleaks</a:t>
            </a:r>
            <a:r>
              <a:rPr lang="en-IN" sz="3400" i="1" dirty="0"/>
              <a:t> Open-Source Project</a:t>
            </a:r>
            <a:r>
              <a:rPr lang="en-IN" sz="3400" dirty="0"/>
              <a:t>, accessed Aug. 1, 2026.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328</Words>
  <Application>Microsoft Office PowerPoint</Application>
  <PresentationFormat>Custom</PresentationFormat>
  <Paragraphs>36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Nunito</vt:lpstr>
      <vt:lpstr>Calibri</vt:lpstr>
      <vt:lpstr>Times New Roman</vt:lpstr>
      <vt:lpstr>Arial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IdeaNova</dc:title>
  <cp:lastModifiedBy>Khushboo Jindal</cp:lastModifiedBy>
  <cp:revision>2</cp:revision>
  <dcterms:created xsi:type="dcterms:W3CDTF">2006-08-16T00:00:00Z</dcterms:created>
  <dcterms:modified xsi:type="dcterms:W3CDTF">2026-08-01T05:45:15Z</dcterms:modified>
  <dc:identifier>DAHQ-j1fhRQ</dc:identifier>
</cp:coreProperties>
</file>